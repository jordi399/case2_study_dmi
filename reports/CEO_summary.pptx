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EO summary" id="{24e796a2-222d-63f4-2a40-1d2eaf2cce54}">
          <p14:sldIdLst>
            <p14:sldId id="256"/>
          </p14:sldIdLst>
        </p14:section>
        <p14:section name="Answers" id="{25b369a1-e68c-a2b3-acb9-904b301f5179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Jan
₹50.0K</c:v>
                  </c:pt>
                  <c:pt idx="1">
                    <c:v>Zero-spend dilution
−₹5.5K (69%)</c:v>
                  </c:pt>
                  <c:pt idx="2">
                    <c:v>Lower spend per spender
−₹2.5K (31%)</c:v>
                  </c:pt>
                  <c:pt idx="3">
                    <c:v>Jun
₹42.0K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44467</c:v>
                </c:pt>
                <c:pt idx="2">
                  <c:v>42000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1430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Jan
₹50.0K</c:v>
                  </c:pt>
                  <c:pt idx="1">
                    <c:v>Zero-spend dilution
−₹5.5K (69%)</c:v>
                  </c:pt>
                  <c:pt idx="2">
                    <c:v>Lower spend per spender
−₹2.5K (31%)</c:v>
                  </c:pt>
                  <c:pt idx="3">
                    <c:v>Jun
₹42.0K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50000</c:v>
                </c:pt>
                <c:pt idx="1">
                  <c:v>0</c:v>
                </c:pt>
                <c:pt idx="2">
                  <c:v>0</c:v>
                </c:pt>
                <c:pt idx="3">
                  <c:v>42000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Dilution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Jan
₹50.0K</c:v>
                  </c:pt>
                  <c:pt idx="1">
                    <c:v>Zero-spend dilution
−₹5.5K (69%)</c:v>
                  </c:pt>
                  <c:pt idx="2">
                    <c:v>Lower spend per spender
−₹2.5K (31%)</c:v>
                  </c:pt>
                  <c:pt idx="3">
                    <c:v>Jun
₹42.0K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5533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Real</c:v>
                </c:pt>
              </c:strCache>
            </c:strRef>
          </c:tx>
          <c:spPr>
            <a:solidFill>
              <a:srgbClr val="EDA1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Jan
₹50.0K</c:v>
                  </c:pt>
                  <c:pt idx="1">
                    <c:v>Zero-spend dilution
−₹5.5K (69%)</c:v>
                  </c:pt>
                  <c:pt idx="2">
                    <c:v>Lower spend per spender
−₹2.5K (31%)</c:v>
                  </c:pt>
                  <c:pt idx="3">
                    <c:v>Jun
₹42.0K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2467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8D3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Talking points: total spend is up 18%; the per-card KPI fell 16% because the card base grew 40% and new cards take about 3 months to start spending. 69% of the ₹8,000 drop is zero-spend dilution (Shapley split). The remaining 31% is a real softening in May–June, coinciding with travel falling from 20% to 11% of the mix. Caveat: Table 1 and Table 3 imply different per-card levels (₹42K vs ₹4.5K), so all conclusions use relative measures only. Ask: approve the 90-day activation pilot and the new KPI view; share cohort-level and year-on-year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Q1: decompose the KPI into activation rate × spend per spending card (Shapley split). 69% of the ₹8,000 drop is zero-spend dilution; 31% is lower spend per spender, concentrated in May–June. Q2: new cards under 3 months have a median spend of ₹0 and account for at least 64% of zero-spend cards. Q3: see page 1. Flag the cross-table unit inconsistency as a question for the data owners.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O_ONE_PAG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5"/>
                </a:solidFill>
              </a:rPr>
              <a:t>Credit Cards  |  Spend per active card, Jan–Jun  |  Source: portfolio Tables 1–4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Kicker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8F0"/>
                </a:solidFill>
              </a:rPr>
              <a:t>CEO SUMMARY  ·  IS SPEND PER CARD REALLY FALLING?</a:t>
            </a:r>
            <a:endParaRPr lang="en-US" sz="1100" dirty="0"/>
          </a:p>
        </p:txBody>
      </p:sp>
      <p:sp>
        <p:nvSpPr>
          <p:cNvPr id="4" name="Headline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aren't spending less: new cards just haven't started yet</a:t>
            </a:r>
            <a:endParaRPr lang="en-US" sz="2800" dirty="0"/>
          </a:p>
        </p:txBody>
      </p:sp>
      <p:sp>
        <p:nvSpPr>
          <p:cNvPr id="5" name="Tile 1"/>
          <p:cNvSpPr/>
          <p:nvPr/>
        </p:nvSpPr>
        <p:spPr>
          <a:xfrm>
            <a:off x="457200" y="1600200"/>
            <a:ext cx="361188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ile 1 marker"/>
          <p:cNvSpPr/>
          <p:nvPr/>
        </p:nvSpPr>
        <p:spPr>
          <a:xfrm>
            <a:off x="457200" y="1600200"/>
            <a:ext cx="73152" cy="1417320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ile 1 number"/>
          <p:cNvSpPr txBox="1"/>
          <p:nvPr/>
        </p:nvSpPr>
        <p:spPr>
          <a:xfrm>
            <a:off x="713232" y="1691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+18%</a:t>
            </a:r>
            <a:endParaRPr lang="en-US" sz="3600" dirty="0"/>
          </a:p>
        </p:txBody>
      </p:sp>
      <p:sp>
        <p:nvSpPr>
          <p:cNvPr id="8" name="Tile 1 label"/>
          <p:cNvSpPr txBox="1"/>
          <p:nvPr/>
        </p:nvSpPr>
        <p:spPr>
          <a:xfrm>
            <a:off x="2057400" y="1737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Total spend is growing</a:t>
            </a:r>
            <a:endParaRPr lang="en-US" sz="1300" dirty="0"/>
          </a:p>
        </p:txBody>
      </p:sp>
      <p:sp>
        <p:nvSpPr>
          <p:cNvPr id="9" name="Tile 1 detail"/>
          <p:cNvSpPr txBox="1"/>
          <p:nvPr/>
        </p:nvSpPr>
        <p:spPr>
          <a:xfrm>
            <a:off x="713232" y="23774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₹4,100 Cr → ₹4,830 Cr. Active cards grew faster (+40%), so the per-card average fell 16%.</a:t>
            </a:r>
            <a:endParaRPr lang="en-US" sz="1050" dirty="0"/>
          </a:p>
        </p:txBody>
      </p:sp>
      <p:sp>
        <p:nvSpPr>
          <p:cNvPr id="10" name="Tile 2"/>
          <p:cNvSpPr/>
          <p:nvPr/>
        </p:nvSpPr>
        <p:spPr>
          <a:xfrm>
            <a:off x="4251960" y="1600200"/>
            <a:ext cx="361188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ile 2 marker"/>
          <p:cNvSpPr/>
          <p:nvPr/>
        </p:nvSpPr>
        <p:spPr>
          <a:xfrm>
            <a:off x="4251960" y="1600200"/>
            <a:ext cx="73152" cy="1417320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ile 2 number"/>
          <p:cNvSpPr txBox="1"/>
          <p:nvPr/>
        </p:nvSpPr>
        <p:spPr>
          <a:xfrm>
            <a:off x="4507992" y="1691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69%</a:t>
            </a:r>
            <a:endParaRPr lang="en-US" sz="3600" dirty="0"/>
          </a:p>
        </p:txBody>
      </p:sp>
      <p:sp>
        <p:nvSpPr>
          <p:cNvPr id="13" name="Tile 2 label"/>
          <p:cNvSpPr txBox="1"/>
          <p:nvPr/>
        </p:nvSpPr>
        <p:spPr>
          <a:xfrm>
            <a:off x="5852160" y="1737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of the drop is dilution</a:t>
            </a:r>
            <a:endParaRPr lang="en-US" sz="1300" dirty="0"/>
          </a:p>
        </p:txBody>
      </p:sp>
      <p:sp>
        <p:nvSpPr>
          <p:cNvPr id="14" name="Tile 2 detail"/>
          <p:cNvSpPr txBox="1"/>
          <p:nvPr/>
        </p:nvSpPr>
        <p:spPr>
          <a:xfrm>
            <a:off x="4507992" y="23774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Zero-spend cards rose from 12% to 22% of the base. These cards count as active but spend nothing.</a:t>
            </a:r>
            <a:endParaRPr lang="en-US" sz="1050" dirty="0"/>
          </a:p>
        </p:txBody>
      </p:sp>
      <p:sp>
        <p:nvSpPr>
          <p:cNvPr id="15" name="Tile 3"/>
          <p:cNvSpPr/>
          <p:nvPr/>
        </p:nvSpPr>
        <p:spPr>
          <a:xfrm>
            <a:off x="8046720" y="1600200"/>
            <a:ext cx="361188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ile 3 marker"/>
          <p:cNvSpPr/>
          <p:nvPr/>
        </p:nvSpPr>
        <p:spPr>
          <a:xfrm>
            <a:off x="8046720" y="1600200"/>
            <a:ext cx="73152" cy="14173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ile 3 number"/>
          <p:cNvSpPr txBox="1"/>
          <p:nvPr/>
        </p:nvSpPr>
        <p:spPr>
          <a:xfrm>
            <a:off x="8302752" y="1691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₹0</a:t>
            </a:r>
            <a:endParaRPr lang="en-US" sz="3600" dirty="0"/>
          </a:p>
        </p:txBody>
      </p:sp>
      <p:sp>
        <p:nvSpPr>
          <p:cNvPr id="18" name="Tile 3 label"/>
          <p:cNvSpPr txBox="1"/>
          <p:nvPr/>
        </p:nvSpPr>
        <p:spPr>
          <a:xfrm>
            <a:off x="9646920" y="173736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median spend of new cards</a:t>
            </a:r>
            <a:endParaRPr lang="en-US" sz="1300" dirty="0"/>
          </a:p>
        </p:txBody>
      </p:sp>
      <p:sp>
        <p:nvSpPr>
          <p:cNvPr id="19" name="Tile 3 detail"/>
          <p:cNvSpPr txBox="1"/>
          <p:nvPr/>
        </p:nvSpPr>
        <p:spPr>
          <a:xfrm>
            <a:off x="8302752" y="2377440"/>
            <a:ext cx="3246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Cards under 3 months old are 28% of the base but only 13% of spend. Spend rises steadily as cards age.</a:t>
            </a:r>
            <a:endParaRPr lang="en-US" sz="1050" dirty="0"/>
          </a:p>
        </p:txBody>
      </p:sp>
      <p:sp>
        <p:nvSpPr>
          <p:cNvPr id="20" name="Chart title"/>
          <p:cNvSpPr txBox="1"/>
          <p:nvPr/>
        </p:nvSpPr>
        <p:spPr>
          <a:xfrm>
            <a:off x="457200" y="32461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Spend per active card, Jan → Jun (₹)</a:t>
            </a:r>
            <a:endParaRPr lang="en-US" sz="1300" dirty="0"/>
          </a:p>
        </p:txBody>
      </p:sp>
      <p:graphicFrame>
        <p:nvGraphicFramePr>
          <p:cNvPr id="21" name="Waterfall chart" descr=""/>
          <p:cNvGraphicFramePr/>
          <p:nvPr/>
        </p:nvGraphicFramePr>
        <p:xfrm>
          <a:off x="365760" y="3566160"/>
          <a:ext cx="530352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ignal title"/>
          <p:cNvSpPr txBox="1"/>
          <p:nvPr/>
        </p:nvSpPr>
        <p:spPr>
          <a:xfrm>
            <a:off x="6172200" y="324612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The real signal to watch</a:t>
            </a:r>
            <a:endParaRPr lang="en-US" sz="1300" dirty="0"/>
          </a:p>
        </p:txBody>
      </p:sp>
      <p:sp>
        <p:nvSpPr>
          <p:cNvPr id="23" name="Signal bullets"/>
          <p:cNvSpPr txBox="1"/>
          <p:nvPr/>
        </p:nvSpPr>
        <p:spPr>
          <a:xfrm>
            <a:off x="6172200" y="3584448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Spend per spending card is down 5%, and all of it happened in May and June.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chemeClr val="accent5"/>
                </a:solidFill>
              </a:rPr>
              <a:t>Travel (₹8,500 average ticket) fell from 20% to 11% of the mix. This could be seasonal or new-customer mix; we need last year's data to tell.</a:t>
            </a:r>
            <a:endParaRPr lang="en-US" sz="1100" dirty="0"/>
          </a:p>
        </p:txBody>
      </p:sp>
      <p:sp>
        <p:nvSpPr>
          <p:cNvPr id="24" name="Actions title"/>
          <p:cNvSpPr txBox="1"/>
          <p:nvPr/>
        </p:nvSpPr>
        <p:spPr>
          <a:xfrm>
            <a:off x="6172200" y="452628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What we recommend</a:t>
            </a:r>
            <a:endParaRPr lang="en-US" sz="1300" dirty="0"/>
          </a:p>
        </p:txBody>
      </p:sp>
      <p:sp>
        <p:nvSpPr>
          <p:cNvPr id="25" name="Action 1 badge"/>
          <p:cNvSpPr/>
          <p:nvPr/>
        </p:nvSpPr>
        <p:spPr>
          <a:xfrm>
            <a:off x="6172200" y="4855464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Action 1 number"/>
          <p:cNvSpPr txBox="1"/>
          <p:nvPr/>
        </p:nvSpPr>
        <p:spPr>
          <a:xfrm>
            <a:off x="6172200" y="48554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7" name="Action 1 text"/>
          <p:cNvSpPr txBox="1"/>
          <p:nvPr/>
        </p:nvSpPr>
        <p:spPr>
          <a:xfrm>
            <a:off x="6583680" y="4873752"/>
            <a:ext cx="5166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90-day activation programme  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First-transaction offer, nudges in the first 30 days, activation targets by acquisition channel. Each 1 pt cut in the zero-spend share adds ~₹540 per card.</a:t>
            </a:r>
            <a:endParaRPr lang="en-US" sz="1050" dirty="0"/>
          </a:p>
        </p:txBody>
      </p:sp>
      <p:sp>
        <p:nvSpPr>
          <p:cNvPr id="28" name="Action 2 badge"/>
          <p:cNvSpPr/>
          <p:nvPr/>
        </p:nvSpPr>
        <p:spPr>
          <a:xfrm>
            <a:off x="6172200" y="5367528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Action 2 number"/>
          <p:cNvSpPr txBox="1"/>
          <p:nvPr/>
        </p:nvSpPr>
        <p:spPr>
          <a:xfrm>
            <a:off x="6172200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30" name="Action 2 text"/>
          <p:cNvSpPr txBox="1"/>
          <p:nvPr/>
        </p:nvSpPr>
        <p:spPr>
          <a:xfrm>
            <a:off x="6583680" y="5385816"/>
            <a:ext cx="5166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Fix the KPI  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Report spend per spending card by card-age cohort next to the blended average.</a:t>
            </a:r>
            <a:endParaRPr lang="en-US" sz="1050" dirty="0"/>
          </a:p>
        </p:txBody>
      </p:sp>
      <p:sp>
        <p:nvSpPr>
          <p:cNvPr id="31" name="Action 3 badge"/>
          <p:cNvSpPr/>
          <p:nvPr/>
        </p:nvSpPr>
        <p:spPr>
          <a:xfrm>
            <a:off x="6172200" y="5879592"/>
            <a:ext cx="292608" cy="29260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Action 3 number"/>
          <p:cNvSpPr txBox="1"/>
          <p:nvPr/>
        </p:nvSpPr>
        <p:spPr>
          <a:xfrm>
            <a:off x="6172200" y="587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Action 3 text"/>
          <p:cNvSpPr txBox="1"/>
          <p:nvPr/>
        </p:nvSpPr>
        <p:spPr>
          <a:xfrm>
            <a:off x="6583680" y="5897880"/>
            <a:ext cx="5166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Watch, don't react yet  </a:t>
            </a:r>
            <a:pPr indent="0" marL="0">
              <a:buNone/>
            </a:pPr>
            <a:r>
              <a:rPr lang="en-US" sz="1050" dirty="0">
                <a:solidFill>
                  <a:schemeClr val="accent5"/>
                </a:solidFill>
              </a:rPr>
              <a:t>Track spend per spender and travel share monthly against last year before running any travel campaign.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" name="Kicker"/>
          <p:cNvSpPr txBox="1"/>
          <p:nvPr/>
        </p:nvSpPr>
        <p:spPr>
          <a:xfrm>
            <a:off x="457200" y="20116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C8F0"/>
                </a:solidFill>
              </a:rPr>
              <a:t>ANSWERS  ·  Q1 – Q3</a:t>
            </a:r>
            <a:endParaRPr lang="en-US" sz="1100" dirty="0"/>
          </a:p>
        </p:txBody>
      </p:sp>
      <p:sp>
        <p:nvSpPr>
          <p:cNvPr id="4" name="Headline"/>
          <p:cNvSpPr txBox="1"/>
          <p:nvPr/>
        </p:nvSpPr>
        <p:spPr>
          <a:xfrm>
            <a:off x="457200" y="47548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The decline is mostly mechanical, and new-card activation is the biggest driver</a:t>
            </a:r>
            <a:endParaRPr lang="en-US" sz="2400" dirty="0"/>
          </a:p>
        </p:txBody>
      </p:sp>
      <p:sp>
        <p:nvSpPr>
          <p:cNvPr id="5" name="Q1 card"/>
          <p:cNvSpPr/>
          <p:nvPr/>
        </p:nvSpPr>
        <p:spPr>
          <a:xfrm>
            <a:off x="457200" y="1371600"/>
            <a:ext cx="3611880" cy="4343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Q1 bar"/>
          <p:cNvSpPr/>
          <p:nvPr/>
        </p:nvSpPr>
        <p:spPr>
          <a:xfrm>
            <a:off x="457200" y="1371600"/>
            <a:ext cx="3611880" cy="64008"/>
          </a:xfrm>
          <a:prstGeom prst="rect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Q1 label"/>
          <p:cNvSpPr txBox="1"/>
          <p:nvPr/>
        </p:nvSpPr>
        <p:spPr>
          <a:xfrm>
            <a:off x="685800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Q1</a:t>
            </a:r>
            <a:endParaRPr lang="en-US" sz="2000" dirty="0"/>
          </a:p>
        </p:txBody>
      </p:sp>
      <p:sp>
        <p:nvSpPr>
          <p:cNvPr id="8" name="Q1 question"/>
          <p:cNvSpPr txBox="1"/>
          <p:nvPr/>
        </p:nvSpPr>
        <p:spPr>
          <a:xfrm>
            <a:off x="132588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Is the spend decline real or mechanical?</a:t>
            </a:r>
            <a:endParaRPr lang="en-US" sz="1250" dirty="0"/>
          </a:p>
        </p:txBody>
      </p:sp>
      <p:sp>
        <p:nvSpPr>
          <p:cNvPr id="9" name="Q1 verdict"/>
          <p:cNvSpPr txBox="1"/>
          <p:nvPr/>
        </p:nvSpPr>
        <p:spPr>
          <a:xfrm>
            <a:off x="685800" y="2057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Mostly mechanical (~70%), with a smaller real part that began in May.</a:t>
            </a:r>
            <a:endParaRPr lang="en-US" sz="1300" dirty="0"/>
          </a:p>
        </p:txBody>
      </p:sp>
      <p:sp>
        <p:nvSpPr>
          <p:cNvPr id="10" name="Q1 evidence"/>
          <p:cNvSpPr txBox="1"/>
          <p:nvPr/>
        </p:nvSpPr>
        <p:spPr>
          <a:xfrm>
            <a:off x="685800" y="278892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Spend per active card fell 16% (₹50.0K → ₹42.0K), while total spend rose 18% and active cards rose 40%.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KPI = activation rate × spend per spending card. Splitting the ₹8,000 drop: −₹5,533 (69%) from the zero-spend share rising 12% → 22%; −₹2,467 (31%) from lower spend per spending card.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Spend per spending card was flat at ~₹57K Jan–Apr and fell ~6% in May–Jun. That's the real part, and it coincides with travel falling from 20% to 11% of the mix.</a:t>
            </a:r>
            <a:endParaRPr lang="en-US" sz="1200" dirty="0"/>
          </a:p>
        </p:txBody>
      </p:sp>
      <p:sp>
        <p:nvSpPr>
          <p:cNvPr id="11" name="Q2 card"/>
          <p:cNvSpPr/>
          <p:nvPr/>
        </p:nvSpPr>
        <p:spPr>
          <a:xfrm>
            <a:off x="4251960" y="1371600"/>
            <a:ext cx="3611880" cy="4343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Q2 bar"/>
          <p:cNvSpPr/>
          <p:nvPr/>
        </p:nvSpPr>
        <p:spPr>
          <a:xfrm>
            <a:off x="4251960" y="1371600"/>
            <a:ext cx="361188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Q2 label"/>
          <p:cNvSpPr txBox="1"/>
          <p:nvPr/>
        </p:nvSpPr>
        <p:spPr>
          <a:xfrm>
            <a:off x="4480560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Q2</a:t>
            </a:r>
            <a:endParaRPr lang="en-US" sz="2000" dirty="0"/>
          </a:p>
        </p:txBody>
      </p:sp>
      <p:sp>
        <p:nvSpPr>
          <p:cNvPr id="14" name="Q2 question"/>
          <p:cNvSpPr txBox="1"/>
          <p:nvPr/>
        </p:nvSpPr>
        <p:spPr>
          <a:xfrm>
            <a:off x="512064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The single biggest driver</a:t>
            </a:r>
            <a:endParaRPr lang="en-US" sz="1250" dirty="0"/>
          </a:p>
        </p:txBody>
      </p:sp>
      <p:sp>
        <p:nvSpPr>
          <p:cNvPr id="15" name="Q2 verdict"/>
          <p:cNvSpPr txBox="1"/>
          <p:nvPr/>
        </p:nvSpPr>
        <p:spPr>
          <a:xfrm>
            <a:off x="4480560" y="2057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Fast new-card acquisition, with cards slow to start spending.</a:t>
            </a:r>
            <a:endParaRPr lang="en-US" sz="1300" dirty="0"/>
          </a:p>
        </p:txBody>
      </p:sp>
      <p:sp>
        <p:nvSpPr>
          <p:cNvPr id="16" name="Q2 evidence"/>
          <p:cNvSpPr txBox="1"/>
          <p:nvPr/>
        </p:nvSpPr>
        <p:spPr>
          <a:xfrm>
            <a:off x="4480560" y="278892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Cards under 3 months old are 28% of the base but only 13% of spend, with a median spend of ₹0.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So at least 161K new cards spent nothing in June: at least 64% of all zero-spend cards, and more than the whole Jan → Jun rise (+155K).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Spend climbs with card age (₹2.1K → ₹3.9K → ₹5.2K → ₹6.3K). New cards haven't stopped spending; they haven't started yet.</a:t>
            </a:r>
            <a:endParaRPr lang="en-US" sz="1200" dirty="0"/>
          </a:p>
        </p:txBody>
      </p:sp>
      <p:sp>
        <p:nvSpPr>
          <p:cNvPr id="17" name="Q3 card"/>
          <p:cNvSpPr/>
          <p:nvPr/>
        </p:nvSpPr>
        <p:spPr>
          <a:xfrm>
            <a:off x="8046720" y="1371600"/>
            <a:ext cx="3611880" cy="4343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Q3 bar"/>
          <p:cNvSpPr/>
          <p:nvPr/>
        </p:nvSpPr>
        <p:spPr>
          <a:xfrm>
            <a:off x="8046720" y="1371600"/>
            <a:ext cx="3611880" cy="6400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Q3 label"/>
          <p:cNvSpPr txBox="1"/>
          <p:nvPr/>
        </p:nvSpPr>
        <p:spPr>
          <a:xfrm>
            <a:off x="8275320" y="15544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Q3</a:t>
            </a:r>
            <a:endParaRPr lang="en-US" sz="2000" dirty="0"/>
          </a:p>
        </p:txBody>
      </p:sp>
      <p:sp>
        <p:nvSpPr>
          <p:cNvPr id="20" name="Q3 question"/>
          <p:cNvSpPr txBox="1"/>
          <p:nvPr/>
        </p:nvSpPr>
        <p:spPr>
          <a:xfrm>
            <a:off x="8915400" y="155448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CEO summary (detail on page 1)</a:t>
            </a:r>
            <a:endParaRPr lang="en-US" sz="1250" dirty="0"/>
          </a:p>
        </p:txBody>
      </p:sp>
      <p:sp>
        <p:nvSpPr>
          <p:cNvPr id="21" name="Q3 verdict"/>
          <p:cNvSpPr txBox="1"/>
          <p:nvPr/>
        </p:nvSpPr>
        <p:spPr>
          <a:xfrm>
            <a:off x="8275320" y="2057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Growth is showing up as a decline because the KPI counts cards before they activate.</a:t>
            </a:r>
            <a:endParaRPr lang="en-US" sz="1300" dirty="0"/>
          </a:p>
        </p:txBody>
      </p:sp>
      <p:sp>
        <p:nvSpPr>
          <p:cNvPr id="22" name="Q3 evidence"/>
          <p:cNvSpPr txBox="1"/>
          <p:nvPr/>
        </p:nvSpPr>
        <p:spPr>
          <a:xfrm>
            <a:off x="8275320" y="2788920"/>
            <a:ext cx="3246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Activation programme for the first 90 days: each 1-pt cut in the zero-spend share adds ~₹540 to spend per active card.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Report spend per spending card by card-age cohort next to the blended average.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Watch the May–Jun softening and travel share against last year before acting on it.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chemeClr val="accent5"/>
                </a:solidFill>
              </a:rPr>
              <a:t>Ask: cohort-level monthly spend and one agreed definition of an "active" card.</a:t>
            </a:r>
            <a:endParaRPr lang="en-US" sz="1200" dirty="0"/>
          </a:p>
        </p:txBody>
      </p:sp>
      <p:sp>
        <p:nvSpPr>
          <p:cNvPr id="23" name="Data note band"/>
          <p:cNvSpPr/>
          <p:nvPr/>
        </p:nvSpPr>
        <p:spPr>
          <a:xfrm>
            <a:off x="457200" y="5833872"/>
            <a:ext cx="11247120" cy="502920"/>
          </a:xfrm>
          <a:prstGeom prst="rect">
            <a:avLst/>
          </a:prstGeom>
          <a:solidFill>
            <a:srgbClr val="FFF4EE"/>
          </a:solidFill>
          <a:ln w="12700">
            <a:solidFill>
              <a:srgbClr val="FFF4EE"/>
            </a:solidFill>
            <a:prstDash val="solid"/>
          </a:ln>
        </p:spPr>
      </p:sp>
      <p:sp>
        <p:nvSpPr>
          <p:cNvPr id="24" name="Data note"/>
          <p:cNvSpPr txBox="1"/>
          <p:nvPr/>
        </p:nvSpPr>
        <p:spPr>
          <a:xfrm>
            <a:off x="640080" y="5870448"/>
            <a:ext cx="10881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2"/>
                </a:solidFill>
              </a:rPr>
              <a:t>Data note: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the tables don't reconcile. June spend per card is ₹42K in Table 1, ₹4.5K in Table 3 and at least ₹5.75K in Table 2, so units or the "active" definition differ. All conclusions use relative measures (shares, % changes) and hold either way.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end Diagnosis">
  <a:themeElements>
    <a:clrScheme name="Spend Diagnosis">
      <a:dk1>
        <a:srgbClr val="0B0B0B"/>
      </a:dk1>
      <a:lt1>
        <a:srgbClr val="FFFFFF"/>
      </a:lt1>
      <a:dk2>
        <a:srgbClr val="14304F"/>
      </a:dk2>
      <a:lt2>
        <a:srgbClr val="F3F5F8"/>
      </a:lt2>
      <a:accent1>
        <a:srgbClr val="2A78D6"/>
      </a:accent1>
      <a:accent2>
        <a:srgbClr val="EB6834"/>
      </a:accent2>
      <a:accent3>
        <a:srgbClr val="1BAF7A"/>
      </a:accent3>
      <a:accent4>
        <a:srgbClr val="EDA100"/>
      </a:accent4>
      <a:accent5>
        <a:srgbClr val="52514E"/>
      </a:accent5>
      <a:accent6>
        <a:srgbClr val="A3A29C"/>
      </a:accent6>
      <a:hlink>
        <a:srgbClr val="2A78D6"/>
      </a:hlink>
      <a:folHlink>
        <a:srgbClr val="4A3AA7"/>
      </a:folHlink>
    </a:clrScheme>
    <a:fontScheme name="Spend Diagnos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CEO summary and answers: spend per active card</dc:title>
  <dc:subject>PptxGenJS Presentation</dc:subject>
  <dc:creator>PptxGenJS</dc:creator>
  <cp:lastModifiedBy>PptxGenJS</cp:lastModifiedBy>
  <cp:revision>1</cp:revision>
  <dcterms:created xsi:type="dcterms:W3CDTF">2026-10-05T07:20:55Z</dcterms:created>
  <dcterms:modified xsi:type="dcterms:W3CDTF">2026-10-05T07:20:55Z</dcterms:modified>
</cp:coreProperties>
</file>