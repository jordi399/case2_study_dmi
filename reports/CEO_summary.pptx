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EO summary" id="{78823edd-23fd-0aff-74cd-3bec1023500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
₹50.0K</c:v>
                  </c:pt>
                  <c:pt idx="1">
                    <c:v>Zero-spend dilution
−₹5.5K (69%)</c:v>
                  </c:pt>
                  <c:pt idx="2">
                    <c:v>Lower spend per spender
−₹2.5K (31%)</c:v>
                  </c:pt>
                  <c:pt idx="3">
                    <c:v>Jun
₹42.0K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44467</c:v>
                </c:pt>
                <c:pt idx="2">
                  <c:v>42000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430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
₹50.0K</c:v>
                  </c:pt>
                  <c:pt idx="1">
                    <c:v>Zero-spend dilution
−₹5.5K (69%)</c:v>
                  </c:pt>
                  <c:pt idx="2">
                    <c:v>Lower spend per spender
−₹2.5K (31%)</c:v>
                  </c:pt>
                  <c:pt idx="3">
                    <c:v>Jun
₹42.0K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50000</c:v>
                </c:pt>
                <c:pt idx="1">
                  <c:v>0</c:v>
                </c:pt>
                <c:pt idx="2">
                  <c:v>0</c:v>
                </c:pt>
                <c:pt idx="3">
                  <c:v>42000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Dilution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
₹50.0K</c:v>
                  </c:pt>
                  <c:pt idx="1">
                    <c:v>Zero-spend dilution
−₹5.5K (69%)</c:v>
                  </c:pt>
                  <c:pt idx="2">
                    <c:v>Lower spend per spender
−₹2.5K (31%)</c:v>
                  </c:pt>
                  <c:pt idx="3">
                    <c:v>Jun
₹42.0K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5533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
₹50.0K</c:v>
                  </c:pt>
                  <c:pt idx="1">
                    <c:v>Zero-spend dilution
−₹5.5K (69%)</c:v>
                  </c:pt>
                  <c:pt idx="2">
                    <c:v>Lower spend per spender
−₹2.5K (31%)</c:v>
                  </c:pt>
                  <c:pt idx="3">
                    <c:v>Jun
₹42.0K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2467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8D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 total spend is up 18%; the per-card KPI fell 16% because the card base grew 40% and new cards take about 3 months to start spending. 69% of the ₹8,000 drop is zero-spend dilution (Shapley split). The remaining 31% is a real softening in May–June, coinciding with travel falling from 20% to 11% of the mix. Caveat: Table 1 and Table 3 imply different per-card levels (₹42K vs ₹4.5K), so all conclusions use relative measures only. Ask: approve the 90-day activation pilot and the new KPI view; share cohort-level and year-on-year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O_ONE_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Credit Cards  |  Spend per active card, Jan–Jun  |  Source: portfolio Tables 1–4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C8F0"/>
                </a:solidFill>
              </a:rPr>
              <a:t>CEO SUMMARY  ·  IS SPEND PER CARD REALLY FALLING?</a:t>
            </a:r>
            <a:endParaRPr lang="en-US" sz="110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aren't spending less: new cards just haven't started yet</a:t>
            </a:r>
            <a:endParaRPr lang="en-US" sz="2800" dirty="0"/>
          </a:p>
        </p:txBody>
      </p:sp>
      <p:sp>
        <p:nvSpPr>
          <p:cNvPr id="5" name="Tile 1"/>
          <p:cNvSpPr/>
          <p:nvPr/>
        </p:nvSpPr>
        <p:spPr>
          <a:xfrm>
            <a:off x="457200" y="1600200"/>
            <a:ext cx="36118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ile 1 marker"/>
          <p:cNvSpPr/>
          <p:nvPr/>
        </p:nvSpPr>
        <p:spPr>
          <a:xfrm>
            <a:off x="457200" y="1600200"/>
            <a:ext cx="73152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ile 1 number"/>
          <p:cNvSpPr txBox="1"/>
          <p:nvPr/>
        </p:nvSpPr>
        <p:spPr>
          <a:xfrm>
            <a:off x="713232" y="1691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+18%</a:t>
            </a:r>
            <a:endParaRPr lang="en-US" sz="3600" dirty="0"/>
          </a:p>
        </p:txBody>
      </p:sp>
      <p:sp>
        <p:nvSpPr>
          <p:cNvPr id="8" name="Tile 1 label"/>
          <p:cNvSpPr txBox="1"/>
          <p:nvPr/>
        </p:nvSpPr>
        <p:spPr>
          <a:xfrm>
            <a:off x="205740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Total spend is growing</a:t>
            </a:r>
            <a:endParaRPr lang="en-US" sz="1300" dirty="0"/>
          </a:p>
        </p:txBody>
      </p:sp>
      <p:sp>
        <p:nvSpPr>
          <p:cNvPr id="9" name="Tile 1 detail"/>
          <p:cNvSpPr txBox="1"/>
          <p:nvPr/>
        </p:nvSpPr>
        <p:spPr>
          <a:xfrm>
            <a:off x="713232" y="2377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₹4,100 Cr → ₹4,830 Cr. Active cards grew faster (+40%), so the per-card average fell 16%.</a:t>
            </a:r>
            <a:endParaRPr lang="en-US" sz="1050" dirty="0"/>
          </a:p>
        </p:txBody>
      </p:sp>
      <p:sp>
        <p:nvSpPr>
          <p:cNvPr id="10" name="Tile 2"/>
          <p:cNvSpPr/>
          <p:nvPr/>
        </p:nvSpPr>
        <p:spPr>
          <a:xfrm>
            <a:off x="4251960" y="1600200"/>
            <a:ext cx="36118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ile 2 marker"/>
          <p:cNvSpPr/>
          <p:nvPr/>
        </p:nvSpPr>
        <p:spPr>
          <a:xfrm>
            <a:off x="4251960" y="1600200"/>
            <a:ext cx="73152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ile 2 number"/>
          <p:cNvSpPr txBox="1"/>
          <p:nvPr/>
        </p:nvSpPr>
        <p:spPr>
          <a:xfrm>
            <a:off x="4507992" y="1691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69%</a:t>
            </a:r>
            <a:endParaRPr lang="en-US" sz="3600" dirty="0"/>
          </a:p>
        </p:txBody>
      </p:sp>
      <p:sp>
        <p:nvSpPr>
          <p:cNvPr id="13" name="Tile 2 label"/>
          <p:cNvSpPr txBox="1"/>
          <p:nvPr/>
        </p:nvSpPr>
        <p:spPr>
          <a:xfrm>
            <a:off x="585216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of the drop is dilution</a:t>
            </a:r>
            <a:endParaRPr lang="en-US" sz="1300" dirty="0"/>
          </a:p>
        </p:txBody>
      </p:sp>
      <p:sp>
        <p:nvSpPr>
          <p:cNvPr id="14" name="Tile 2 detail"/>
          <p:cNvSpPr txBox="1"/>
          <p:nvPr/>
        </p:nvSpPr>
        <p:spPr>
          <a:xfrm>
            <a:off x="4507992" y="2377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Zero-spend cards rose from 12% to 22% of the base. These cards count as active but spend nothing.</a:t>
            </a:r>
            <a:endParaRPr lang="en-US" sz="1050" dirty="0"/>
          </a:p>
        </p:txBody>
      </p:sp>
      <p:sp>
        <p:nvSpPr>
          <p:cNvPr id="15" name="Tile 3"/>
          <p:cNvSpPr/>
          <p:nvPr/>
        </p:nvSpPr>
        <p:spPr>
          <a:xfrm>
            <a:off x="8046720" y="1600200"/>
            <a:ext cx="36118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ile 3 marker"/>
          <p:cNvSpPr/>
          <p:nvPr/>
        </p:nvSpPr>
        <p:spPr>
          <a:xfrm>
            <a:off x="8046720" y="1600200"/>
            <a:ext cx="73152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ile 3 number"/>
          <p:cNvSpPr txBox="1"/>
          <p:nvPr/>
        </p:nvSpPr>
        <p:spPr>
          <a:xfrm>
            <a:off x="8302752" y="1691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₹0</a:t>
            </a:r>
            <a:endParaRPr lang="en-US" sz="3600" dirty="0"/>
          </a:p>
        </p:txBody>
      </p:sp>
      <p:sp>
        <p:nvSpPr>
          <p:cNvPr id="18" name="Tile 3 label"/>
          <p:cNvSpPr txBox="1"/>
          <p:nvPr/>
        </p:nvSpPr>
        <p:spPr>
          <a:xfrm>
            <a:off x="964692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median spend of new cards</a:t>
            </a:r>
            <a:endParaRPr lang="en-US" sz="1300" dirty="0"/>
          </a:p>
        </p:txBody>
      </p:sp>
      <p:sp>
        <p:nvSpPr>
          <p:cNvPr id="19" name="Tile 3 detail"/>
          <p:cNvSpPr txBox="1"/>
          <p:nvPr/>
        </p:nvSpPr>
        <p:spPr>
          <a:xfrm>
            <a:off x="8302752" y="2377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Cards under 3 months old are 28% of the base but only 13% of spend. Spend rises steadily as cards age.</a:t>
            </a:r>
            <a:endParaRPr lang="en-US" sz="1050" dirty="0"/>
          </a:p>
        </p:txBody>
      </p:sp>
      <p:sp>
        <p:nvSpPr>
          <p:cNvPr id="20" name="Chart title"/>
          <p:cNvSpPr txBox="1"/>
          <p:nvPr/>
        </p:nvSpPr>
        <p:spPr>
          <a:xfrm>
            <a:off x="45720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Spend per active card, Jan → Jun (₹)</a:t>
            </a:r>
            <a:endParaRPr lang="en-US" sz="1300" dirty="0"/>
          </a:p>
        </p:txBody>
      </p:sp>
      <p:graphicFrame>
        <p:nvGraphicFramePr>
          <p:cNvPr id="21" name="Waterfall chart" descr=""/>
          <p:cNvGraphicFramePr/>
          <p:nvPr/>
        </p:nvGraphicFramePr>
        <p:xfrm>
          <a:off x="365760" y="3566160"/>
          <a:ext cx="53035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ignal title"/>
          <p:cNvSpPr txBox="1"/>
          <p:nvPr/>
        </p:nvSpPr>
        <p:spPr>
          <a:xfrm>
            <a:off x="6172200" y="32461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real signal to watch</a:t>
            </a:r>
            <a:endParaRPr lang="en-US" sz="1300" dirty="0"/>
          </a:p>
        </p:txBody>
      </p:sp>
      <p:sp>
        <p:nvSpPr>
          <p:cNvPr id="23" name="Signal bullets"/>
          <p:cNvSpPr txBox="1"/>
          <p:nvPr/>
        </p:nvSpPr>
        <p:spPr>
          <a:xfrm>
            <a:off x="6172200" y="358444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Spend per spending card is down 5%, and all of it happened in May and June.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Travel (₹8,500 average ticket) fell from 20% to 11% of the mix. This could be seasonal or new-customer mix; we need last year's data to tell.</a:t>
            </a:r>
            <a:endParaRPr lang="en-US" sz="1100" dirty="0"/>
          </a:p>
        </p:txBody>
      </p:sp>
      <p:sp>
        <p:nvSpPr>
          <p:cNvPr id="24" name="Actions title"/>
          <p:cNvSpPr txBox="1"/>
          <p:nvPr/>
        </p:nvSpPr>
        <p:spPr>
          <a:xfrm>
            <a:off x="6172200" y="4526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we recommend</a:t>
            </a:r>
            <a:endParaRPr lang="en-US" sz="1300" dirty="0"/>
          </a:p>
        </p:txBody>
      </p:sp>
      <p:sp>
        <p:nvSpPr>
          <p:cNvPr id="25" name="Action 1 badge"/>
          <p:cNvSpPr/>
          <p:nvPr/>
        </p:nvSpPr>
        <p:spPr>
          <a:xfrm>
            <a:off x="6172200" y="485546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Action 1 number"/>
          <p:cNvSpPr txBox="1"/>
          <p:nvPr/>
        </p:nvSpPr>
        <p:spPr>
          <a:xfrm>
            <a:off x="6172200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Action 1 text"/>
          <p:cNvSpPr txBox="1"/>
          <p:nvPr/>
        </p:nvSpPr>
        <p:spPr>
          <a:xfrm>
            <a:off x="6583680" y="4873752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90-day activation programme  </a:t>
            </a:r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First-transaction offer, nudges in the first 30 days, activation targets by acquisition channel. Each 1 pt cut in the zero-spend share adds ~₹540 per card.</a:t>
            </a:r>
            <a:endParaRPr lang="en-US" sz="1050" dirty="0"/>
          </a:p>
        </p:txBody>
      </p:sp>
      <p:sp>
        <p:nvSpPr>
          <p:cNvPr id="28" name="Action 2 badge"/>
          <p:cNvSpPr/>
          <p:nvPr/>
        </p:nvSpPr>
        <p:spPr>
          <a:xfrm>
            <a:off x="6172200" y="53675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Action 2 number"/>
          <p:cNvSpPr txBox="1"/>
          <p:nvPr/>
        </p:nvSpPr>
        <p:spPr>
          <a:xfrm>
            <a:off x="6172200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Action 2 text"/>
          <p:cNvSpPr txBox="1"/>
          <p:nvPr/>
        </p:nvSpPr>
        <p:spPr>
          <a:xfrm>
            <a:off x="6583680" y="5385816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Fix the KPI  </a:t>
            </a:r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Report spend per spending card by card-age cohort next to the blended average.</a:t>
            </a:r>
            <a:endParaRPr lang="en-US" sz="1050" dirty="0"/>
          </a:p>
        </p:txBody>
      </p:sp>
      <p:sp>
        <p:nvSpPr>
          <p:cNvPr id="31" name="Action 3 badge"/>
          <p:cNvSpPr/>
          <p:nvPr/>
        </p:nvSpPr>
        <p:spPr>
          <a:xfrm>
            <a:off x="6172200" y="58795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Action 3 number"/>
          <p:cNvSpPr txBox="1"/>
          <p:nvPr/>
        </p:nvSpPr>
        <p:spPr>
          <a:xfrm>
            <a:off x="6172200" y="5879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Action 3 text"/>
          <p:cNvSpPr txBox="1"/>
          <p:nvPr/>
        </p:nvSpPr>
        <p:spPr>
          <a:xfrm>
            <a:off x="6583680" y="5897880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Watch, don't react yet  </a:t>
            </a:r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Track spend per spender and travel share monthly against last year before running any travel campaign.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nd Diagnosis">
  <a:themeElements>
    <a:clrScheme name="Spend Diagnosis">
      <a:dk1>
        <a:srgbClr val="0B0B0B"/>
      </a:dk1>
      <a:lt1>
        <a:srgbClr val="FFFFFF"/>
      </a:lt1>
      <a:dk2>
        <a:srgbClr val="14304F"/>
      </a:dk2>
      <a:lt2>
        <a:srgbClr val="F3F5F8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52514E"/>
      </a:accent5>
      <a:accent6>
        <a:srgbClr val="A3A29C"/>
      </a:accent6>
      <a:hlink>
        <a:srgbClr val="2A78D6"/>
      </a:hlink>
      <a:folHlink>
        <a:srgbClr val="4A3AA7"/>
      </a:folHlink>
    </a:clrScheme>
    <a:fontScheme name="Spend Diagnos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summary: spend per active card</dc:title>
  <dc:subject>PptxGenJS Presentation</dc:subject>
  <dc:creator>PptxGenJS</dc:creator>
  <cp:lastModifiedBy>PptxGenJS</cp:lastModifiedBy>
  <cp:revision>1</cp:revision>
  <dcterms:created xsi:type="dcterms:W3CDTF">2026-10-04T08:57:49Z</dcterms:created>
  <dcterms:modified xsi:type="dcterms:W3CDTF">2026-10-04T08:57:49Z</dcterms:modified>
</cp:coreProperties>
</file>